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7200" b="1">
                <a:solidFill>
                  <a:srgbClr val="EDF2F4"/>
                </a:solidFill>
                <a:latin typeface="Helvetica Neue"/>
              </a:defRPr>
            </a:pPr>
            <a:r>
              <a:t>RetailIQ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EDF2F4"/>
                </a:solidFill>
                <a:latin typeface="Helvetica Neue"/>
              </a:defRPr>
            </a:pPr>
            <a:r>
              <a:t>Agentic Retail Demand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5029200"/>
            <a:ext cx="3657600" cy="45720"/>
          </a:xfrm>
          <a:prstGeom prst="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 b="0">
                <a:solidFill>
                  <a:srgbClr val="8D99AE"/>
                </a:solidFill>
                <a:latin typeface="Helvetica"/>
              </a:defRPr>
            </a:pPr>
            <a:r>
              <a:t>By: C. V. Rushil (1BY23AI038) | Anvik R P | Adviktha K | Hansika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463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000" b="0">
                <a:solidFill>
                  <a:srgbClr val="8D99AE"/>
                </a:solidFill>
                <a:latin typeface="Helvetica"/>
              </a:defRPr>
            </a:pPr>
            <a:r>
              <a:t>Project Guide: Dr. Srivani 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EDF2F4"/>
                </a:solidFill>
                <a:latin typeface="Helvetica Neue"/>
              </a:defRPr>
            </a:pPr>
            <a:r>
              <a:t>Beyond Traditional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The Core Problem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Generic time-series models fall short without external context (weather, holidays, sentiment).</a:t>
            </a:r>
          </a:p>
          <a:p>
            <a:pPr>
              <a:defRPr sz="1000" b="0">
                <a:solidFill>
                  <a:srgbClr val="EDF2F4"/>
                </a:solidFill>
                <a:latin typeface="Helvetica"/>
              </a:defRPr>
            </a:pPr>
          </a:p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The RetailIQ Solution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Zero-shot foundation model forecasting fused with an agentic social sentiment pipeline.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Operates strictly on factual constraints (The Four Honesty Invariants).</a:t>
            </a:r>
          </a:p>
          <a:p>
            <a:pPr>
              <a:defRPr sz="1000" b="0">
                <a:solidFill>
                  <a:srgbClr val="EDF2F4"/>
                </a:solidFill>
                <a:latin typeface="Helvetica"/>
              </a:defRPr>
            </a:pPr>
          </a:p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Our Honesty Invariants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No synthetic history (Missing data is rejected, not padded).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No injected seasonality (Weekly/holiday effects are strictly measured).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No fabricated precision (Intervals beyond model capabilities are omitted).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No unattributed numbers (Every social response carries strict provenance).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EDF2F4"/>
                </a:solidFill>
                <a:latin typeface="Helvetica Neue"/>
              </a:defRPr>
            </a:pPr>
            <a:r>
              <a:t>Seamless Data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Bridging the Real-World Data Gap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Retailers don't rely on CSVs. We implemented live connectors to ingest data seamlessly.</a:t>
            </a:r>
          </a:p>
          <a:p>
            <a:pPr>
              <a:defRPr sz="1000" b="0">
                <a:solidFill>
                  <a:srgbClr val="EDF2F4"/>
                </a:solidFill>
                <a:latin typeface="Helvetica"/>
              </a:defRPr>
            </a:pPr>
          </a:p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Key Integrations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Shopify: Real OAuth 2.0 integration mapped to dev stores for testing.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Zoho Books/Inventory: Full OAuth support for Indian SMB accounting pipelines.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Multiple File Sources: WooCommerce, Razorpay, and Unicommerce CSV parsing.</a:t>
            </a:r>
          </a:p>
          <a:p>
            <a:pPr>
              <a:defRPr sz="1000" b="0">
                <a:solidFill>
                  <a:srgbClr val="EDF2F4"/>
                </a:solidFill>
                <a:latin typeface="Helvetica"/>
              </a:defRPr>
            </a:pPr>
          </a:p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Security &amp; Architecture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Tokens encrypted at rest via Fernet.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Synced connectors behave precisely like uploaded datasets, enforcing the same quality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2286000"/>
            <a:ext cx="4114800" cy="3200400"/>
          </a:xfrm>
          <a:prstGeom prst="roundRect">
            <a:avLst/>
          </a:prstGeom>
          <a:solidFill>
            <a:srgbClr val="EF233C"/>
          </a:solidFill>
          <a:ln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Pipeline</a:t>
            </a:r>
            <a:br/>
            <a:br/>
            <a:r>
              <a:t>Shopify/Zoho OAuth</a:t>
            </a:r>
            <a:br/>
            <a:r>
              <a:t>↓</a:t>
            </a:r>
            <a:br/>
            <a:r>
              <a:t>Encrypted Token Store</a:t>
            </a:r>
            <a:br/>
            <a:r>
              <a:t>↓</a:t>
            </a:r>
            <a:br/>
            <a:r>
              <a:t>Unified Data Normalization</a:t>
            </a:r>
            <a:br/>
            <a:r>
              <a:t>↓</a:t>
            </a:r>
            <a:br/>
            <a:r>
              <a:t>Forecasting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EDF2F4"/>
                </a:solidFill>
                <a:latin typeface="Helvetica Neue"/>
              </a:defRPr>
            </a:pPr>
            <a:r>
              <a:t>Model Context Protocol (MCP)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0">
                <a:solidFill>
                  <a:srgbClr val="EF233C"/>
                </a:solidFill>
                <a:latin typeface="Helvetica"/>
              </a:defRPr>
            </a:pPr>
            <a:r>
              <a:t>The Agentic Substrate: Connecting LLMs to our 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EDF2F4"/>
                </a:solidFill>
                <a:latin typeface="Helvetica"/>
              </a:defRPr>
            </a:pPr>
            <a:r>
              <a:t>A unified bridging protocol exposing local APIs to external AI models.</a:t>
            </a:r>
          </a:p>
          <a:p>
            <a:pPr>
              <a:defRPr sz="2400" b="0">
                <a:solidFill>
                  <a:srgbClr val="EDF2F4"/>
                </a:solidFill>
                <a:latin typeface="Helvetica"/>
              </a:defRPr>
            </a:pPr>
            <a:r>
              <a:t>Business logic runs directly in the Python service layer, avoiding HTTP route leakage.</a:t>
            </a:r>
          </a:p>
          <a:p>
            <a:pPr>
              <a:defRPr sz="2400" b="0">
                <a:solidFill>
                  <a:srgbClr val="EDF2F4"/>
                </a:solidFill>
                <a:latin typeface="Helvetica"/>
              </a:defRPr>
            </a:pPr>
            <a:r>
              <a:t>Brings rigorous validation to AI operations: The AI cannot bypass data refusal parameters.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828800"/>
            <a:ext cx="3200400" cy="914400"/>
          </a:xfrm>
          <a:prstGeom prst="roundRect">
            <a:avLst/>
          </a:prstGeom>
          <a:solidFill>
            <a:srgbClr val="8D99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LLMs / AI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657600"/>
            <a:ext cx="3200400" cy="914400"/>
          </a:xfrm>
          <a:prstGeom prst="roundRect">
            <a:avLst/>
          </a:prstGeom>
          <a:solidFill>
            <a:srgbClr val="EF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MCP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5486400"/>
            <a:ext cx="3200400" cy="1828800"/>
          </a:xfrm>
          <a:prstGeom prst="roundRect">
            <a:avLst/>
          </a:prstGeom>
          <a:solidFill>
            <a:srgbClr val="8D99A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Service Layer</a:t>
            </a:r>
            <a:br/>
            <a:r>
              <a:t>- list_datasets</a:t>
            </a:r>
            <a:br/>
            <a:r>
              <a:t>- get_forecast</a:t>
            </a:r>
            <a:br/>
            <a:r>
              <a:t>- run_social_agent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EDF2F4"/>
                </a:solidFill>
                <a:latin typeface="Helvetica Neue"/>
              </a:defRPr>
            </a:pPr>
            <a:r>
              <a:t>Covariate-Aware Forecasting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Foundation Model Core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Utilizes Amazon Chronos-2 for zero-shot time-series prediction.</a:t>
            </a:r>
          </a:p>
          <a:p>
            <a:pPr>
              <a:defRPr sz="1000" b="0">
                <a:solidFill>
                  <a:srgbClr val="EDF2F4"/>
                </a:solidFill>
                <a:latin typeface="Helvetica"/>
              </a:defRPr>
            </a:pPr>
          </a:p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Dynamic Covariate Fusion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Ingests contextual variables like Open-Meteo Weather and Local Holidays.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Covariates are independently assessed on each user's series; we only keep variables that objectively reduce prediction error.</a:t>
            </a:r>
          </a:p>
          <a:p>
            <a:pPr>
              <a:defRPr sz="1000" b="0">
                <a:solidFill>
                  <a:srgbClr val="EDF2F4"/>
                </a:solidFill>
                <a:latin typeface="Helvetica"/>
              </a:defRPr>
            </a:pPr>
          </a:p>
          <a:p>
            <a:pPr>
              <a:defRPr sz="2800" b="1">
                <a:solidFill>
                  <a:srgbClr val="EDF2F4"/>
                </a:solidFill>
                <a:latin typeface="Helvetica"/>
              </a:defRPr>
            </a:pPr>
            <a:r>
              <a:t>Evaluated Performance (Real-World Test Data)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Outperforms baseline statistical models (AutoARIMA, AutoETS).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Achieves a 38.4% RMSE reduction against seasonal-naive baselines.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Maintains a tightly calibrated 81% prediction coverage interval.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EDF2F4"/>
                </a:solidFill>
                <a:latin typeface="Helvetica Neue"/>
              </a:defRPr>
            </a:pPr>
            <a:r>
              <a:t>Agentic Social Intelligence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 b="1">
                <a:solidFill>
                  <a:srgbClr val="EDF2F4"/>
                </a:solidFill>
                <a:latin typeface="Helvetica"/>
              </a:defRPr>
            </a:pPr>
            <a:r>
              <a:t>1. Harvest (Collect)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Leverages Scrapling for TLS-impersonating web scraping (YouTube, Blogs, Mastodon).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Integrates Apify to seamlessly capture structured data from X and Instagram.</a:t>
            </a:r>
          </a:p>
          <a:p>
            <a:pPr>
              <a:defRPr sz="2600" b="1">
                <a:solidFill>
                  <a:srgbClr val="EDF2F4"/>
                </a:solidFill>
                <a:latin typeface="Helvetica"/>
              </a:defRPr>
            </a:pPr>
            <a:r>
              <a:t>2. Noise Filtering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Algorithmic rejection of affiliate spam, short-content, and bot-farm patterns.</a:t>
            </a:r>
          </a:p>
          <a:p>
            <a:pPr>
              <a:defRPr sz="2600" b="1">
                <a:solidFill>
                  <a:srgbClr val="EDF2F4"/>
                </a:solidFill>
                <a:latin typeface="Helvetica"/>
              </a:defRPr>
            </a:pPr>
            <a:r>
              <a:t>3. Semantic Scoring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Utilizes CardiffNLP Twitter-RoBERTa for deep contextual sentiment analysis (vastly superior to standard FinBERT for consumer data).</a:t>
            </a:r>
          </a:p>
          <a:p>
            <a:pPr>
              <a:defRPr sz="2600" b="1">
                <a:solidFill>
                  <a:srgbClr val="EDF2F4"/>
                </a:solidFill>
                <a:latin typeface="Helvetica"/>
              </a:defRPr>
            </a:pPr>
            <a:r>
              <a:t>4. Forecast Fusion</a:t>
            </a:r>
          </a:p>
          <a:p>
            <a:pPr lvl="1">
              <a:defRPr sz="2200" b="0">
                <a:solidFill>
                  <a:srgbClr val="EDF2F4"/>
                </a:solidFill>
                <a:latin typeface="Helvetica"/>
              </a:defRPr>
            </a:pPr>
            <a:r>
              <a:t>Sentiment scores act as covariates. Elasticity is calibrated via trailing historical deviations and regressed onto the prediction horizon.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4000" b="1">
                <a:solidFill>
                  <a:srgbClr val="EDF2F4"/>
                </a:solidFill>
                <a:latin typeface="Helvetica Neue"/>
              </a:defRPr>
            </a:pPr>
            <a:r>
              <a:t>Future Work: Multi-Agent Conversational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0">
                <a:solidFill>
                  <a:srgbClr val="EF233C"/>
                </a:solidFill>
                <a:latin typeface="Helvetica"/>
              </a:defRPr>
            </a:pPr>
            <a:r>
              <a:t>Transitioning from static dashboards to intent-driven Chat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EDF2F4"/>
                </a:solidFill>
                <a:latin typeface="Helvetica"/>
              </a:defRPr>
            </a:pPr>
            <a:r>
              <a:t>Intent Router</a:t>
            </a:r>
          </a:p>
          <a:p>
            <a:pPr lvl="1">
              <a:defRPr sz="2000" b="0">
                <a:solidFill>
                  <a:srgbClr val="EDF2F4"/>
                </a:solidFill>
                <a:latin typeface="Helvetica"/>
              </a:defRPr>
            </a:pPr>
            <a:r>
              <a:t>Analyzes user text and routes to specialized sub-agents.</a:t>
            </a:r>
          </a:p>
          <a:p>
            <a:pPr>
              <a:defRPr sz="2400" b="1">
                <a:solidFill>
                  <a:srgbClr val="EDF2F4"/>
                </a:solidFill>
                <a:latin typeface="Helvetica"/>
              </a:defRPr>
            </a:pPr>
            <a:r>
              <a:t>Historical Data Agent</a:t>
            </a:r>
          </a:p>
          <a:p>
            <a:pPr lvl="1">
              <a:defRPr sz="2000" b="0">
                <a:solidFill>
                  <a:srgbClr val="EDF2F4"/>
                </a:solidFill>
                <a:latin typeface="Helvetica"/>
              </a:defRPr>
            </a:pPr>
            <a:r>
              <a:t>RAG-backed converser to answer direct queries on past sales and metrics.</a:t>
            </a:r>
          </a:p>
          <a:p>
            <a:pPr>
              <a:defRPr sz="2400" b="1">
                <a:solidFill>
                  <a:srgbClr val="EDF2F4"/>
                </a:solidFill>
                <a:latin typeface="Helvetica"/>
              </a:defRPr>
            </a:pPr>
            <a:r>
              <a:t>Social Media Agent</a:t>
            </a:r>
          </a:p>
          <a:p>
            <a:pPr lvl="1">
              <a:defRPr sz="2000" b="0">
                <a:solidFill>
                  <a:srgbClr val="EDF2F4"/>
                </a:solidFill>
                <a:latin typeface="Helvetica"/>
              </a:defRPr>
            </a:pPr>
            <a:r>
              <a:t>Triggers live analysis and summarizes sentiment dynamically.</a:t>
            </a:r>
          </a:p>
          <a:p>
            <a:pPr>
              <a:defRPr sz="2400" b="1">
                <a:solidFill>
                  <a:srgbClr val="EDF2F4"/>
                </a:solidFill>
                <a:latin typeface="Helvetica"/>
              </a:defRPr>
            </a:pPr>
            <a:r>
              <a:t>Forecasting Agent</a:t>
            </a:r>
          </a:p>
          <a:p>
            <a:pPr lvl="1">
              <a:defRPr sz="2000" b="0">
                <a:solidFill>
                  <a:srgbClr val="EDF2F4"/>
                </a:solidFill>
                <a:latin typeface="Helvetica"/>
              </a:defRPr>
            </a:pPr>
            <a:r>
              <a:t>Interacts with the MCP server to run Chronos projections on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2286000"/>
            <a:ext cx="4572000" cy="4572000"/>
          </a:xfrm>
          <a:prstGeom prst="roundRect">
            <a:avLst/>
          </a:prstGeom>
          <a:solidFill>
            <a:srgbClr val="EDF2F4"/>
          </a:solidFill>
          <a:ln>
            <a:solidFill>
              <a:srgbClr val="8D9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  <a:p>
            <a:pPr>
              <a:defRPr sz="1800" b="1">
                <a:solidFill>
                  <a:srgbClr val="2B2D42"/>
                </a:solidFill>
              </a:defRPr>
            </a:pPr>
            <a:r>
              <a:t>User: Why did Hoodie sales drop last weekend?</a:t>
            </a:r>
            <a:br/>
          </a:p>
          <a:p>
            <a:pPr>
              <a:defRPr sz="1600">
                <a:solidFill>
                  <a:srgbClr val="EF233C"/>
                </a:solidFill>
              </a:defRPr>
            </a:pPr>
            <a:r>
              <a:t>Historical Agent: Let me pull the sales data for Hoodies...</a:t>
            </a:r>
            <a:br/>
          </a:p>
          <a:p>
            <a:pPr>
              <a:defRPr sz="1600">
                <a:solidFill>
                  <a:srgbClr val="8D99AE"/>
                </a:solidFill>
              </a:defRPr>
            </a:pPr>
            <a:r>
              <a:t>Social Agent: Analyzing current web sentiment on Hoodies. Looks like a recent competitor discount shifted attention.</a:t>
            </a:r>
            <a:br/>
          </a:p>
          <a:p>
            <a:pPr>
              <a:defRPr sz="1600">
                <a:solidFill>
                  <a:srgbClr val="EF233C"/>
                </a:solidFill>
              </a:defRPr>
            </a:pPr>
            <a:r>
              <a:t>Forecasting Agent: Generating a revised 30-day forecast factoring in the recent weather shift and sentiment drop.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